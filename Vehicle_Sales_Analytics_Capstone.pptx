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5.xml" ContentType="application/vnd.openxmlformats-officedocument.presentationml.notesSlide+xml"/>
  <Override PartName="/ppt/charts/chart5.xml" ContentType="application/vnd.openxmlformats-officedocument.drawingml.chart+xml"/>
  <Override PartName="/ppt/notesSlides/notesSlide6.xml" ContentType="application/vnd.openxmlformats-officedocument.presentationml.notesSlid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notesSlides/notesSlide7.xml" ContentType="application/vnd.openxmlformats-officedocument.presentationml.notesSlide+xml"/>
  <Override PartName="/ppt/charts/chart8.xml" ContentType="application/vnd.openxmlformats-officedocument.drawingml.chart+xml"/>
  <Override PartName="/ppt/notesSlides/notesSlide8.xml" ContentType="application/vnd.openxmlformats-officedocument.presentationml.notesSlide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A6032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EB5-4641-BE77-83929523AD3C}"/>
              </c:ext>
            </c:extLst>
          </c:dPt>
          <c:dPt>
            <c:idx val="1"/>
            <c:invertIfNegative val="0"/>
            <c:bubble3D val="0"/>
            <c:spPr>
              <a:solidFill>
                <a:srgbClr val="D9A5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EB5-4641-BE77-83929523AD3C}"/>
              </c:ext>
            </c:extLst>
          </c:dPt>
          <c:dPt>
            <c:idx val="2"/>
            <c:invertIfNegative val="0"/>
            <c:bubble3D val="0"/>
            <c:spPr>
              <a:solidFill>
                <a:srgbClr val="D9A5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EB5-4641-BE77-83929523AD3C}"/>
              </c:ext>
            </c:extLst>
          </c:dPt>
          <c:dPt>
            <c:idx val="3"/>
            <c:invertIfNegative val="0"/>
            <c:bubble3D val="0"/>
            <c:spPr>
              <a:solidFill>
                <a:srgbClr val="D9A5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AEB5-4641-BE77-83929523AD3C}"/>
              </c:ext>
            </c:extLst>
          </c:dPt>
          <c:dPt>
            <c:idx val="4"/>
            <c:invertIfNegative val="0"/>
            <c:bubble3D val="0"/>
            <c:spPr>
              <a:solidFill>
                <a:srgbClr val="D9A5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AEB5-4641-BE77-83929523AD3C}"/>
              </c:ext>
            </c:extLst>
          </c:dPt>
          <c:dPt>
            <c:idx val="5"/>
            <c:invertIfNegative val="0"/>
            <c:bubble3D val="0"/>
            <c:spPr>
              <a:solidFill>
                <a:srgbClr val="D9A5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AEB5-4641-BE77-83929523AD3C}"/>
              </c:ext>
            </c:extLst>
          </c:dPt>
          <c:dPt>
            <c:idx val="6"/>
            <c:invertIfNegative val="0"/>
            <c:bubble3D val="0"/>
            <c:spPr>
              <a:solidFill>
                <a:srgbClr val="D9A5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AEB5-4641-BE77-83929523AD3C}"/>
              </c:ext>
            </c:extLst>
          </c:dPt>
          <c:dPt>
            <c:idx val="7"/>
            <c:invertIfNegative val="0"/>
            <c:bubble3D val="0"/>
            <c:spPr>
              <a:solidFill>
                <a:srgbClr val="D9A5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AEB5-4641-BE77-83929523AD3C}"/>
              </c:ext>
            </c:extLst>
          </c:dPt>
          <c:dPt>
            <c:idx val="8"/>
            <c:invertIfNegative val="0"/>
            <c:bubble3D val="0"/>
            <c:spPr>
              <a:solidFill>
                <a:srgbClr val="D9A5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AEB5-4641-BE77-83929523AD3C}"/>
              </c:ext>
            </c:extLst>
          </c:dPt>
          <c:dPt>
            <c:idx val="9"/>
            <c:invertIfNegative val="0"/>
            <c:bubble3D val="0"/>
            <c:spPr>
              <a:solidFill>
                <a:srgbClr val="D9A5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AEB5-4641-BE77-83929523AD3C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B241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Sheet1!$A$2:$A$11</c:f>
              <c:strCache>
                <c:ptCount val="10"/>
                <c:pt idx="0">
                  <c:v>Ford  (16.74%)</c:v>
                </c:pt>
                <c:pt idx="1">
                  <c:v>Chevrolet  (10.77%)</c:v>
                </c:pt>
                <c:pt idx="2">
                  <c:v>Nissan  (9.65%)</c:v>
                </c:pt>
                <c:pt idx="3">
                  <c:v>Toyota  (7.14%)</c:v>
                </c:pt>
                <c:pt idx="4">
                  <c:v>Dodge  (5.50%)</c:v>
                </c:pt>
                <c:pt idx="5">
                  <c:v>Honda  (4.87%)</c:v>
                </c:pt>
                <c:pt idx="6">
                  <c:v>Hyundai  (3.90%)</c:v>
                </c:pt>
                <c:pt idx="7">
                  <c:v>BMW  (3.71%)</c:v>
                </c:pt>
                <c:pt idx="8">
                  <c:v>Kia  (3.23%)</c:v>
                </c:pt>
                <c:pt idx="9">
                  <c:v>Chrysler  (3.09%)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93553</c:v>
                </c:pt>
                <c:pt idx="1">
                  <c:v>60197</c:v>
                </c:pt>
                <c:pt idx="2">
                  <c:v>53946</c:v>
                </c:pt>
                <c:pt idx="3">
                  <c:v>39871</c:v>
                </c:pt>
                <c:pt idx="4">
                  <c:v>30708</c:v>
                </c:pt>
                <c:pt idx="5">
                  <c:v>27206</c:v>
                </c:pt>
                <c:pt idx="6">
                  <c:v>21811</c:v>
                </c:pt>
                <c:pt idx="7">
                  <c:v>20719</c:v>
                </c:pt>
                <c:pt idx="8">
                  <c:v>18075</c:v>
                </c:pt>
                <c:pt idx="9">
                  <c:v>17274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4-AEB5-4641-BE77-83929523AD3C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241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1000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D97B66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B241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Altima</c:v>
                </c:pt>
                <c:pt idx="1">
                  <c:v>F-150</c:v>
                </c:pt>
                <c:pt idx="2">
                  <c:v>Fusion</c:v>
                </c:pt>
                <c:pt idx="3">
                  <c:v>Camry</c:v>
                </c:pt>
                <c:pt idx="4">
                  <c:v>Escape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19349</c:v>
                </c:pt>
                <c:pt idx="1">
                  <c:v>14479</c:v>
                </c:pt>
                <c:pt idx="2">
                  <c:v>12945</c:v>
                </c:pt>
                <c:pt idx="3">
                  <c:v>12545</c:v>
                </c:pt>
                <c:pt idx="4">
                  <c:v>11861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59D-4A85-9662-0398693C0AD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241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30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A6032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5963-4799-80C3-A6D2F21D7053}"/>
              </c:ext>
            </c:extLst>
          </c:dPt>
          <c:dPt>
            <c:idx val="1"/>
            <c:invertIfNegative val="0"/>
            <c:bubble3D val="0"/>
            <c:spPr>
              <a:solidFill>
                <a:srgbClr val="D97B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963-4799-80C3-A6D2F21D7053}"/>
              </c:ext>
            </c:extLst>
          </c:dPt>
          <c:dPt>
            <c:idx val="2"/>
            <c:invertIfNegative val="0"/>
            <c:bubble3D val="0"/>
            <c:spPr>
              <a:solidFill>
                <a:srgbClr val="D9A5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963-4799-80C3-A6D2F21D7053}"/>
              </c:ext>
            </c:extLst>
          </c:dPt>
          <c:dPt>
            <c:idx val="3"/>
            <c:invertIfNegative val="0"/>
            <c:bubble3D val="0"/>
            <c:spPr>
              <a:solidFill>
                <a:srgbClr val="D9A5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963-4799-80C3-A6D2F21D7053}"/>
              </c:ext>
            </c:extLst>
          </c:dPt>
          <c:dPt>
            <c:idx val="4"/>
            <c:invertIfNegative val="0"/>
            <c:bubble3D val="0"/>
            <c:spPr>
              <a:solidFill>
                <a:srgbClr val="D9A5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963-4799-80C3-A6D2F21D705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3B241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Sedan (43.19%)</c:v>
                </c:pt>
                <c:pt idx="1">
                  <c:v>SUV (25.74%)</c:v>
                </c:pt>
                <c:pt idx="2">
                  <c:v>Hatchback (4.70%)</c:v>
                </c:pt>
                <c:pt idx="3">
                  <c:v>Minivan (4.57%)</c:v>
                </c:pt>
                <c:pt idx="4">
                  <c:v>Coupe (3.18%)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241332</c:v>
                </c:pt>
                <c:pt idx="1">
                  <c:v>143844</c:v>
                </c:pt>
                <c:pt idx="2">
                  <c:v>26237</c:v>
                </c:pt>
                <c:pt idx="3">
                  <c:v>25529</c:v>
                </c:pt>
                <c:pt idx="4">
                  <c:v>17752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5963-4799-80C3-A6D2F21D705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241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33000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Transmission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A6032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330C-4272-831E-8F77CACB00AB}"/>
              </c:ext>
            </c:extLst>
          </c:dPt>
          <c:dPt>
            <c:idx val="1"/>
            <c:bubble3D val="0"/>
            <c:spPr>
              <a:solidFill>
                <a:srgbClr val="D9A577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330C-4272-831E-8F77CACB00AB}"/>
              </c:ext>
            </c:extLst>
          </c:dPt>
          <c:dPt>
            <c:idx val="2"/>
            <c:bubble3D val="0"/>
            <c:spPr>
              <a:solidFill>
                <a:srgbClr val="D97B66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330C-4272-831E-8F77CACB00AB}"/>
              </c:ext>
            </c:extLst>
          </c:dPt>
          <c:cat>
            <c:strRef>
              <c:f>Sheet1!$A$2:$A$4</c:f>
              <c:strCache>
                <c:ptCount val="3"/>
                <c:pt idx="0">
                  <c:v>Automatic</c:v>
                </c:pt>
                <c:pt idx="1">
                  <c:v>Manual</c:v>
                </c:pt>
                <c:pt idx="2">
                  <c:v>Unknown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85.17</c:v>
                </c:pt>
                <c:pt idx="1">
                  <c:v>3.14</c:v>
                </c:pt>
                <c:pt idx="2">
                  <c:v>11.69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30C-4272-831E-8F77CACB00A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B241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D9A577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ABEF-4E70-9118-2B9772874978}"/>
              </c:ext>
            </c:extLst>
          </c:dPt>
          <c:dPt>
            <c:idx val="1"/>
            <c:bubble3D val="0"/>
            <c:spPr>
              <a:solidFill>
                <a:srgbClr val="8C5C32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ABEF-4E70-9118-2B9772874978}"/>
              </c:ext>
            </c:extLst>
          </c:dPt>
          <c:dPt>
            <c:idx val="2"/>
            <c:bubble3D val="0"/>
            <c:spPr>
              <a:solidFill>
                <a:srgbClr val="A60321"/>
              </a:solidFill>
              <a:ln w="254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ABEF-4E70-9118-2B9772874978}"/>
              </c:ext>
            </c:extLst>
          </c:dPt>
          <c:cat>
            <c:strRef>
              <c:f>Sheet1!$A$2:$A$4</c:f>
              <c:strCache>
                <c:ptCount val="3"/>
                <c:pt idx="0">
                  <c:v>Above MMR</c:v>
                </c:pt>
                <c:pt idx="1">
                  <c:v>At MMR</c:v>
                </c:pt>
                <c:pt idx="2">
                  <c:v>Below MMR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48.08</c:v>
                </c:pt>
                <c:pt idx="1">
                  <c:v>1.94</c:v>
                </c:pt>
                <c:pt idx="2">
                  <c:v>49.98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BEF-4E70-9118-2B977287497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3B2414"/>
              </a:solidFill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D9A57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9B1-40B8-BB8C-A085705F1DA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89B1-40B8-BB8C-A085705F1DAF}"/>
              </c:ext>
            </c:extLst>
          </c:dPt>
          <c:dPt>
            <c:idx val="2"/>
            <c:invertIfNegative val="0"/>
            <c:bubble3D val="0"/>
            <c:spPr>
              <a:solidFill>
                <a:srgbClr val="A6032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9B1-40B8-BB8C-A085705F1DAF}"/>
              </c:ext>
            </c:extLst>
          </c:dPt>
          <c:dPt>
            <c:idx val="3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7-89B1-40B8-BB8C-A085705F1DAF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89B1-40B8-BB8C-A085705F1DAF}"/>
              </c:ext>
            </c:extLst>
          </c:dPt>
          <c:dPt>
            <c:idx val="5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B-89B1-40B8-BB8C-A085705F1DA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B241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Under $5K
18.79%</c:v>
                </c:pt>
                <c:pt idx="1">
                  <c:v>$5K–$10K
19.92%</c:v>
                </c:pt>
                <c:pt idx="2">
                  <c:v>$10K–$15K
25.57%</c:v>
                </c:pt>
                <c:pt idx="3">
                  <c:v>$15K–$20K
15.82%</c:v>
                </c:pt>
                <c:pt idx="4">
                  <c:v>$20K–$30K
14.57%</c:v>
                </c:pt>
                <c:pt idx="5">
                  <c:v>$30K–$50K
5.34%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104982</c:v>
                </c:pt>
                <c:pt idx="1">
                  <c:v>111305</c:v>
                </c:pt>
                <c:pt idx="2">
                  <c:v>142871</c:v>
                </c:pt>
                <c:pt idx="3">
                  <c:v>88390</c:v>
                </c:pt>
                <c:pt idx="4">
                  <c:v>81390</c:v>
                </c:pt>
                <c:pt idx="5">
                  <c:v>29861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89B1-40B8-BB8C-A085705F1DA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35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241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650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price</c:v>
                </c:pt>
              </c:strCache>
            </c:strRef>
          </c:tx>
          <c:spPr>
            <a:solidFill>
              <a:srgbClr val="D9A57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D00-4CA0-910F-B8590CD58075}"/>
              </c:ext>
            </c:extLst>
          </c:dPt>
          <c:dPt>
            <c:idx val="1"/>
            <c:invertIfNegative val="0"/>
            <c:bubble3D val="0"/>
            <c:spPr>
              <a:solidFill>
                <a:srgbClr val="D97B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7D00-4CA0-910F-B8590CD58075}"/>
              </c:ext>
            </c:extLst>
          </c:dPt>
          <c:dPt>
            <c:idx val="2"/>
            <c:invertIfNegative val="0"/>
            <c:bubble3D val="0"/>
            <c:spPr>
              <a:solidFill>
                <a:srgbClr val="A6032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D00-4CA0-910F-B8590CD58075}"/>
              </c:ext>
            </c:extLst>
          </c:dPt>
          <c:cat>
            <c:strRef>
              <c:f>Sheet1!$A$2:$A$4</c:f>
              <c:strCache>
                <c:ptCount val="3"/>
                <c:pt idx="0">
                  <c:v>Low
$9,697.24</c:v>
                </c:pt>
                <c:pt idx="1">
                  <c:v>Medium
$11,683.59</c:v>
                </c:pt>
                <c:pt idx="2">
                  <c:v>High
$18,751.09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9697.24</c:v>
                </c:pt>
                <c:pt idx="1">
                  <c:v>11683.59</c:v>
                </c:pt>
                <c:pt idx="2">
                  <c:v>18751.09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7D00-4CA0-910F-B8590CD580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241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30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D9A57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86EC-497D-80AE-27857F7E2BA5}"/>
              </c:ext>
            </c:extLst>
          </c:dPt>
          <c:dPt>
            <c:idx val="1"/>
            <c:invertIfNegative val="0"/>
            <c:bubble3D val="0"/>
            <c:spPr>
              <a:solidFill>
                <a:srgbClr val="A6032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6EC-497D-80AE-27857F7E2BA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3B241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2014</c:v>
                </c:pt>
                <c:pt idx="1">
                  <c:v>2015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53727</c:v>
                </c:pt>
                <c:pt idx="1">
                  <c:v>505072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86EC-497D-80AE-27857F7E2BA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6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241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60000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Transactions</c:v>
                </c:pt>
              </c:strCache>
            </c:strRef>
          </c:tx>
          <c:spPr>
            <a:solidFill>
              <a:srgbClr val="A6032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9939-47AC-8022-1FA1DDC90E29}"/>
              </c:ext>
            </c:extLst>
          </c:dPt>
          <c:dPt>
            <c:idx val="1"/>
            <c:invertIfNegative val="0"/>
            <c:bubble3D val="0"/>
            <c:spPr>
              <a:solidFill>
                <a:srgbClr val="D97B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9939-47AC-8022-1FA1DDC90E29}"/>
              </c:ext>
            </c:extLst>
          </c:dPt>
          <c:dPt>
            <c:idx val="2"/>
            <c:invertIfNegative val="0"/>
            <c:bubble3D val="0"/>
            <c:spPr>
              <a:solidFill>
                <a:srgbClr val="D9A5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9939-47AC-8022-1FA1DDC90E29}"/>
              </c:ext>
            </c:extLst>
          </c:dPt>
          <c:dPt>
            <c:idx val="3"/>
            <c:invertIfNegative val="0"/>
            <c:bubble3D val="0"/>
            <c:spPr>
              <a:solidFill>
                <a:srgbClr val="D9A5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9939-47AC-8022-1FA1DDC90E29}"/>
              </c:ext>
            </c:extLst>
          </c:dPt>
          <c:dPt>
            <c:idx val="4"/>
            <c:invertIfNegative val="0"/>
            <c:bubble3D val="0"/>
            <c:spPr>
              <a:solidFill>
                <a:srgbClr val="D9A5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9939-47AC-8022-1FA1DDC90E29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3B241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Nissan-Infiniti LT</c:v>
                </c:pt>
                <c:pt idx="1">
                  <c:v>Ford Motor Credit Company LLC</c:v>
                </c:pt>
                <c:pt idx="2">
                  <c:v>The Hertz Corporation</c:v>
                </c:pt>
                <c:pt idx="3">
                  <c:v>Santander Consumer</c:v>
                </c:pt>
                <c:pt idx="4">
                  <c:v>Avis Corporation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19693</c:v>
                </c:pt>
                <c:pt idx="1">
                  <c:v>19162</c:v>
                </c:pt>
                <c:pt idx="2">
                  <c:v>18299</c:v>
                </c:pt>
                <c:pt idx="3">
                  <c:v>15285</c:v>
                </c:pt>
                <c:pt idx="4">
                  <c:v>12540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9939-47AC-8022-1FA1DDC90E2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3B241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25000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Correlation</c:v>
                </c:pt>
              </c:strCache>
            </c:strRef>
          </c:tx>
          <c:spPr>
            <a:solidFill>
              <a:srgbClr val="A60321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151-403C-8DDC-42E857FCD854}"/>
              </c:ext>
            </c:extLst>
          </c:dPt>
          <c:dPt>
            <c:idx val="1"/>
            <c:invertIfNegative val="0"/>
            <c:bubble3D val="0"/>
            <c:spPr>
              <a:solidFill>
                <a:srgbClr val="D97B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151-403C-8DDC-42E857FCD854}"/>
              </c:ext>
            </c:extLst>
          </c:dPt>
          <c:dPt>
            <c:idx val="2"/>
            <c:invertIfNegative val="0"/>
            <c:bubble3D val="0"/>
            <c:spPr>
              <a:solidFill>
                <a:srgbClr val="D97B6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151-403C-8DDC-42E857FCD854}"/>
              </c:ext>
            </c:extLst>
          </c:dPt>
          <c:dPt>
            <c:idx val="3"/>
            <c:invertIfNegative val="0"/>
            <c:bubble3D val="0"/>
            <c:spPr>
              <a:solidFill>
                <a:srgbClr val="D9A577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151-403C-8DDC-42E857FCD854}"/>
              </c:ext>
            </c:extLst>
          </c:dPt>
          <c:dLbls>
            <c:numFmt formatCode="\+0.000;\-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1" i="0" u="none" strike="noStrike">
                    <a:solidFill>
                      <a:srgbClr val="3B2414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MMR</c:v>
                </c:pt>
                <c:pt idx="1">
                  <c:v>Odometer</c:v>
                </c:pt>
                <c:pt idx="2">
                  <c:v>Vehicle Age</c:v>
                </c:pt>
                <c:pt idx="3">
                  <c:v>ConditionValue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0.98199999999999998</c:v>
                </c:pt>
                <c:pt idx="1">
                  <c:v>-0.65200000000000002</c:v>
                </c:pt>
                <c:pt idx="2">
                  <c:v>-0.64100000000000001</c:v>
                </c:pt>
                <c:pt idx="3">
                  <c:v>0.34200000000000003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151-403C-8DDC-42E857FCD85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3B2414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.25"/>
          <c:min val="-1"/>
        </c:scaling>
        <c:delete val="1"/>
        <c:axPos val="t"/>
        <c:numFmt formatCode="General" sourceLinked="0"/>
        <c:majorTickMark val="out"/>
        <c:minorTickMark val="none"/>
        <c:tickLblPos val="low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96990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A603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1463040"/>
            <a:ext cx="5852160" cy="5852160"/>
          </a:xfrm>
          <a:prstGeom prst="ellipse">
            <a:avLst/>
          </a:prstGeom>
          <a:solidFill>
            <a:srgbClr val="D97B66">
              <a:alpha val="30000"/>
            </a:srgbClr>
          </a:solidFill>
          <a:ln w="12700">
            <a:solidFill>
              <a:srgbClr val="D97B6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2377440"/>
            <a:ext cx="3840480" cy="3840480"/>
          </a:xfrm>
          <a:prstGeom prst="ellipse">
            <a:avLst/>
          </a:prstGeom>
          <a:solidFill>
            <a:srgbClr val="D9A577">
              <a:alpha val="25000"/>
            </a:srgbClr>
          </a:solidFill>
          <a:ln w="12700">
            <a:solidFill>
              <a:srgbClr val="D9A57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31520" y="731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kern="0" spc="500" dirty="0">
                <a:solidFill>
                  <a:srgbClr val="D9A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ANALYTICS CAPSTONE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1188720"/>
            <a:ext cx="8229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800" b="1" dirty="0">
                <a:solidFill>
                  <a:srgbClr val="F2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Vehicle Sales</a:t>
            </a:r>
            <a:endParaRPr lang="en-US" sz="5800" dirty="0"/>
          </a:p>
          <a:p>
            <a:pPr marL="0" indent="0">
              <a:buNone/>
            </a:pPr>
            <a:r>
              <a:rPr lang="en-US" sz="5800" b="1" dirty="0">
                <a:solidFill>
                  <a:srgbClr val="F2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Analytics</a:t>
            </a:r>
            <a:endParaRPr lang="en-US" sz="58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3154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600" i="1" dirty="0">
                <a:solidFill>
                  <a:srgbClr val="D9A57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Business Insights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731520" y="3931920"/>
            <a:ext cx="1554480" cy="384048"/>
          </a:xfrm>
          <a:prstGeom prst="roundRect">
            <a:avLst>
              <a:gd name="adj" fmla="val 50000"/>
            </a:avLst>
          </a:prstGeom>
          <a:solidFill>
            <a:srgbClr val="A60321"/>
          </a:solidFill>
          <a:ln w="12700">
            <a:solidFill>
              <a:srgbClr val="F2E9D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3931920"/>
            <a:ext cx="1554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50592" y="3931920"/>
            <a:ext cx="1115568" cy="384048"/>
          </a:xfrm>
          <a:prstGeom prst="roundRect">
            <a:avLst>
              <a:gd name="adj" fmla="val 50000"/>
            </a:avLst>
          </a:prstGeom>
          <a:solidFill>
            <a:srgbClr val="A60321"/>
          </a:solidFill>
          <a:ln w="12700">
            <a:solidFill>
              <a:srgbClr val="F2E9D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450592" y="393192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730752" y="3931920"/>
            <a:ext cx="1115568" cy="384048"/>
          </a:xfrm>
          <a:prstGeom prst="roundRect">
            <a:avLst>
              <a:gd name="adj" fmla="val 50000"/>
            </a:avLst>
          </a:prstGeom>
          <a:solidFill>
            <a:srgbClr val="A60321"/>
          </a:solidFill>
          <a:ln w="12700">
            <a:solidFill>
              <a:srgbClr val="F2E9D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730752" y="3931920"/>
            <a:ext cx="11155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010912" y="3931920"/>
            <a:ext cx="1335024" cy="384048"/>
          </a:xfrm>
          <a:prstGeom prst="roundRect">
            <a:avLst>
              <a:gd name="adj" fmla="val 50000"/>
            </a:avLst>
          </a:prstGeom>
          <a:solidFill>
            <a:srgbClr val="A60321"/>
          </a:solidFill>
          <a:ln w="12700">
            <a:solidFill>
              <a:srgbClr val="F2E9D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10912" y="3931920"/>
            <a:ext cx="13350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510528" y="3931920"/>
            <a:ext cx="1005840" cy="384048"/>
          </a:xfrm>
          <a:prstGeom prst="roundRect">
            <a:avLst>
              <a:gd name="adj" fmla="val 50000"/>
            </a:avLst>
          </a:prstGeom>
          <a:solidFill>
            <a:srgbClr val="A60321"/>
          </a:solidFill>
          <a:ln w="12700">
            <a:solidFill>
              <a:srgbClr val="F2E9D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10528" y="39319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480060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400" dirty="0">
                <a:solidFill>
                  <a:srgbClr val="D9A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516636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F2E9D8"/>
          </a:solidFill>
          <a:ln w="12700">
            <a:solidFill>
              <a:srgbClr val="F2E9D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51663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60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2715768" y="5394960"/>
            <a:ext cx="237744" cy="320040"/>
          </a:xfrm>
          <a:prstGeom prst="rightArrow">
            <a:avLst/>
          </a:prstGeom>
          <a:solidFill>
            <a:srgbClr val="D9A577"/>
          </a:solidFill>
          <a:ln w="12700">
            <a:solidFill>
              <a:srgbClr val="D9A57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017520" y="516636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F2E9D8"/>
          </a:solidFill>
          <a:ln w="12700">
            <a:solidFill>
              <a:srgbClr val="F2E9D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017520" y="51663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60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Cleaning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5001768" y="5394960"/>
            <a:ext cx="237744" cy="320040"/>
          </a:xfrm>
          <a:prstGeom prst="rightArrow">
            <a:avLst/>
          </a:prstGeom>
          <a:solidFill>
            <a:srgbClr val="D9A577"/>
          </a:solidFill>
          <a:ln w="12700">
            <a:solidFill>
              <a:srgbClr val="D9A577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303520" y="516636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F2E9D8"/>
          </a:solidFill>
          <a:ln w="12700">
            <a:solidFill>
              <a:srgbClr val="F2E9D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303520" y="51663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60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7287768" y="5394960"/>
            <a:ext cx="237744" cy="320040"/>
          </a:xfrm>
          <a:prstGeom prst="rightArrow">
            <a:avLst/>
          </a:prstGeom>
          <a:solidFill>
            <a:srgbClr val="D9A577"/>
          </a:solidFill>
          <a:ln w="12700">
            <a:solidFill>
              <a:srgbClr val="D9A57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589520" y="516636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F2E9D8"/>
          </a:solidFill>
          <a:ln w="12700">
            <a:solidFill>
              <a:srgbClr val="F2E9D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589520" y="51663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60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9573768" y="5394960"/>
            <a:ext cx="237744" cy="320040"/>
          </a:xfrm>
          <a:prstGeom prst="rightArrow">
            <a:avLst/>
          </a:prstGeom>
          <a:solidFill>
            <a:srgbClr val="D9A577"/>
          </a:solidFill>
          <a:ln w="12700">
            <a:solidFill>
              <a:srgbClr val="D9A57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9875520" y="5166360"/>
            <a:ext cx="1920240" cy="777240"/>
          </a:xfrm>
          <a:prstGeom prst="roundRect">
            <a:avLst>
              <a:gd name="adj" fmla="val 14118"/>
            </a:avLst>
          </a:prstGeom>
          <a:solidFill>
            <a:srgbClr val="D9A577"/>
          </a:solidFill>
          <a:ln w="12700">
            <a:solidFill>
              <a:srgbClr val="D9A577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9875520" y="516636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60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E9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·  DATASET &amp; EXECUTIVE KPIs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60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 &amp; Headline KPIs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148840" cy="822960"/>
          </a:xfrm>
          <a:prstGeom prst="roundRect">
            <a:avLst>
              <a:gd name="adj" fmla="val 13333"/>
            </a:avLst>
          </a:prstGeom>
          <a:solidFill>
            <a:srgbClr val="A60321"/>
          </a:solidFill>
          <a:ln w="12700">
            <a:solidFill>
              <a:srgbClr val="A6032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417320"/>
            <a:ext cx="1874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558,799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847088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A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sales records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910078" y="1371600"/>
            <a:ext cx="1371600" cy="822960"/>
          </a:xfrm>
          <a:prstGeom prst="roundRect">
            <a:avLst>
              <a:gd name="adj" fmla="val 13333"/>
            </a:avLst>
          </a:prstGeom>
          <a:solidFill>
            <a:srgbClr val="A60321"/>
          </a:solidFill>
          <a:ln w="12700">
            <a:solidFill>
              <a:srgbClr val="A6032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047238" y="14173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3047238" y="184708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A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94276" y="1371600"/>
            <a:ext cx="3429000" cy="822960"/>
          </a:xfrm>
          <a:prstGeom prst="roundRect">
            <a:avLst>
              <a:gd name="adj" fmla="val 13333"/>
            </a:avLst>
          </a:prstGeom>
          <a:solidFill>
            <a:srgbClr val="A60321"/>
          </a:solidFill>
          <a:ln w="12700">
            <a:solidFill>
              <a:srgbClr val="A6032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31436" y="1417320"/>
            <a:ext cx="3154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2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Jan 1, 2014 – Jul 20, 2015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4631436" y="184708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A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135874" y="1371600"/>
            <a:ext cx="1600200" cy="822960"/>
          </a:xfrm>
          <a:prstGeom prst="roundRect">
            <a:avLst>
              <a:gd name="adj" fmla="val 13333"/>
            </a:avLst>
          </a:prstGeom>
          <a:solidFill>
            <a:srgbClr val="A60321"/>
          </a:solidFill>
          <a:ln w="12700">
            <a:solidFill>
              <a:srgbClr val="A6032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73034" y="141732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8273034" y="184708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A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948672" y="1371600"/>
            <a:ext cx="1691640" cy="822960"/>
          </a:xfrm>
          <a:prstGeom prst="roundRect">
            <a:avLst>
              <a:gd name="adj" fmla="val 13333"/>
            </a:avLst>
          </a:prstGeom>
          <a:solidFill>
            <a:srgbClr val="A60321"/>
          </a:solidFill>
          <a:ln w="12700">
            <a:solidFill>
              <a:srgbClr val="A6032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0085832" y="1417320"/>
            <a:ext cx="1417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2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974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10085832" y="1847088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A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423160"/>
            <a:ext cx="3575304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822960" y="260604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VEHICLES SOLD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822960" y="292608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60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558,799</a:t>
            </a:r>
            <a:endParaRPr lang="en-US" sz="3200" dirty="0"/>
          </a:p>
        </p:txBody>
      </p:sp>
      <p:sp>
        <p:nvSpPr>
          <p:cNvPr id="22" name="Shape 20"/>
          <p:cNvSpPr/>
          <p:nvPr/>
        </p:nvSpPr>
        <p:spPr>
          <a:xfrm>
            <a:off x="4306824" y="2423160"/>
            <a:ext cx="3575304" cy="1207008"/>
          </a:xfrm>
          <a:prstGeom prst="roundRect">
            <a:avLst>
              <a:gd name="adj" fmla="val 9091"/>
            </a:avLst>
          </a:prstGeom>
          <a:solidFill>
            <a:srgbClr val="A60321"/>
          </a:solidFill>
          <a:ln w="12700">
            <a:solidFill>
              <a:srgbClr val="A6032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81144" y="260604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D9A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VALUE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4581144" y="292608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2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$7,433,616,780</a:t>
            </a:r>
            <a:endParaRPr lang="en-US" sz="3200" dirty="0"/>
          </a:p>
        </p:txBody>
      </p:sp>
      <p:sp>
        <p:nvSpPr>
          <p:cNvPr id="25" name="Shape 23"/>
          <p:cNvSpPr/>
          <p:nvPr/>
        </p:nvSpPr>
        <p:spPr>
          <a:xfrm>
            <a:off x="8065008" y="2423160"/>
            <a:ext cx="3575304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 txBox="1"/>
          <p:nvPr/>
        </p:nvSpPr>
        <p:spPr>
          <a:xfrm>
            <a:off x="8339328" y="260604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SELLING PRICE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8339328" y="292608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60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$13,302.85</a:t>
            </a:r>
            <a:endParaRPr lang="en-US" sz="3200" dirty="0"/>
          </a:p>
        </p:txBody>
      </p:sp>
      <p:sp>
        <p:nvSpPr>
          <p:cNvPr id="28" name="Shape 26"/>
          <p:cNvSpPr/>
          <p:nvPr/>
        </p:nvSpPr>
        <p:spPr>
          <a:xfrm>
            <a:off x="548640" y="3794760"/>
            <a:ext cx="3575304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7"/>
          <p:cNvSpPr txBox="1"/>
          <p:nvPr/>
        </p:nvSpPr>
        <p:spPr>
          <a:xfrm>
            <a:off x="822960" y="397764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SELLING PRICE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822960" y="429768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60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$12,100</a:t>
            </a:r>
            <a:endParaRPr lang="en-US" sz="3200" dirty="0"/>
          </a:p>
        </p:txBody>
      </p:sp>
      <p:sp>
        <p:nvSpPr>
          <p:cNvPr id="31" name="Shape 29"/>
          <p:cNvSpPr/>
          <p:nvPr/>
        </p:nvSpPr>
        <p:spPr>
          <a:xfrm>
            <a:off x="4306824" y="3794760"/>
            <a:ext cx="3575304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 txBox="1"/>
          <p:nvPr/>
        </p:nvSpPr>
        <p:spPr>
          <a:xfrm>
            <a:off x="4581144" y="397764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MMR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4581144" y="429768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60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$13,457.18</a:t>
            </a:r>
            <a:endParaRPr lang="en-US" sz="3200" dirty="0"/>
          </a:p>
        </p:txBody>
      </p:sp>
      <p:sp>
        <p:nvSpPr>
          <p:cNvPr id="34" name="Shape 32"/>
          <p:cNvSpPr/>
          <p:nvPr/>
        </p:nvSpPr>
        <p:spPr>
          <a:xfrm>
            <a:off x="8065008" y="3794760"/>
            <a:ext cx="3575304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339328" y="397764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DIFFERENCE</a:t>
            </a:r>
            <a:endParaRPr lang="en-US" sz="1200" dirty="0"/>
          </a:p>
        </p:txBody>
      </p:sp>
      <p:sp>
        <p:nvSpPr>
          <p:cNvPr id="36" name="Text 34"/>
          <p:cNvSpPr txBox="1"/>
          <p:nvPr/>
        </p:nvSpPr>
        <p:spPr>
          <a:xfrm>
            <a:off x="8339328" y="429768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60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-$158.02</a:t>
            </a:r>
            <a:endParaRPr lang="en-US" sz="3200" dirty="0"/>
          </a:p>
        </p:txBody>
      </p:sp>
      <p:sp>
        <p:nvSpPr>
          <p:cNvPr id="37" name="Shape 35"/>
          <p:cNvSpPr/>
          <p:nvPr/>
        </p:nvSpPr>
        <p:spPr>
          <a:xfrm>
            <a:off x="548640" y="5166360"/>
            <a:ext cx="3575304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822960" y="534924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PRICE DIFFERENCE %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822960" y="566928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60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-0.67%</a:t>
            </a:r>
            <a:endParaRPr lang="en-US" sz="3200" dirty="0"/>
          </a:p>
        </p:txBody>
      </p:sp>
      <p:sp>
        <p:nvSpPr>
          <p:cNvPr id="40" name="Shape 38"/>
          <p:cNvSpPr/>
          <p:nvPr/>
        </p:nvSpPr>
        <p:spPr>
          <a:xfrm>
            <a:off x="4306824" y="5166360"/>
            <a:ext cx="3575304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1" name="Text 39"/>
          <p:cNvSpPr txBox="1"/>
          <p:nvPr/>
        </p:nvSpPr>
        <p:spPr>
          <a:xfrm>
            <a:off x="4581144" y="534924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VEHICLE AGE</a:t>
            </a:r>
            <a:endParaRPr lang="en-US" sz="1200" dirty="0"/>
          </a:p>
        </p:txBody>
      </p:sp>
      <p:sp>
        <p:nvSpPr>
          <p:cNvPr id="42" name="Text 40"/>
          <p:cNvSpPr txBox="1"/>
          <p:nvPr/>
        </p:nvSpPr>
        <p:spPr>
          <a:xfrm>
            <a:off x="4581144" y="566928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60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4.96 years</a:t>
            </a:r>
            <a:endParaRPr lang="en-US" sz="3200" dirty="0"/>
          </a:p>
        </p:txBody>
      </p:sp>
      <p:sp>
        <p:nvSpPr>
          <p:cNvPr id="43" name="Shape 41"/>
          <p:cNvSpPr/>
          <p:nvPr/>
        </p:nvSpPr>
        <p:spPr>
          <a:xfrm>
            <a:off x="8065008" y="5166360"/>
            <a:ext cx="3575304" cy="1207008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4" name="Text 42"/>
          <p:cNvSpPr txBox="1"/>
          <p:nvPr/>
        </p:nvSpPr>
        <p:spPr>
          <a:xfrm>
            <a:off x="8339328" y="5349240"/>
            <a:ext cx="3026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ODOMETER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8339328" y="5669280"/>
            <a:ext cx="3026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60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67,552 miles</a:t>
            </a:r>
            <a:endParaRPr lang="en-US" sz="3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E9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·  MARKET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60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Makes &amp; Models by Transactions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675120" cy="4983480"/>
          </a:xfrm>
          <a:prstGeom prst="roundRect">
            <a:avLst>
              <a:gd name="adj" fmla="val 220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3619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makes  ·  transactions and share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731520" y="1874520"/>
          <a:ext cx="6309360" cy="4343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7498080" y="1371600"/>
            <a:ext cx="4142232" cy="1783080"/>
          </a:xfrm>
          <a:prstGeom prst="roundRect">
            <a:avLst>
              <a:gd name="adj" fmla="val 6154"/>
            </a:avLst>
          </a:prstGeom>
          <a:solidFill>
            <a:srgbClr val="A60321"/>
          </a:solidFill>
          <a:ln w="12700">
            <a:solidFill>
              <a:srgbClr val="A6032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72400" y="1481328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2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16.74%</a:t>
            </a:r>
            <a:endParaRPr lang="en-US" sz="5200" dirty="0"/>
          </a:p>
        </p:txBody>
      </p:sp>
      <p:sp>
        <p:nvSpPr>
          <p:cNvPr id="9" name="Text 6"/>
          <p:cNvSpPr txBox="1"/>
          <p:nvPr/>
        </p:nvSpPr>
        <p:spPr>
          <a:xfrm>
            <a:off x="7772400" y="2286000"/>
            <a:ext cx="3611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is the largest make by transaction volume, representing 16.74% of all sales.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98080" y="3337560"/>
            <a:ext cx="4142232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772400" y="3474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models</a:t>
            </a:r>
            <a:endParaRPr lang="en-US" sz="1400" dirty="0"/>
          </a:p>
        </p:txBody>
      </p:sp>
      <p:graphicFrame>
        <p:nvGraphicFramePr>
          <p:cNvPr id="12" name="Chart 1"/>
          <p:cNvGraphicFramePr/>
          <p:nvPr/>
        </p:nvGraphicFramePr>
        <p:xfrm>
          <a:off x="7589520" y="3749040"/>
          <a:ext cx="397764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E9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·  VEHICLE CHARACTERISTICS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60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Body Type, Transmission &amp; Age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544824" cy="402336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322064" y="1371600"/>
            <a:ext cx="3544824" cy="402336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95488" y="1371600"/>
            <a:ext cx="3544824" cy="4023360"/>
          </a:xfrm>
          <a:prstGeom prst="roundRect">
            <a:avLst>
              <a:gd name="adj" fmla="val 309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822960" y="153619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Body type</a:t>
            </a:r>
            <a:endParaRPr lang="en-US" sz="1400" dirty="0"/>
          </a:p>
        </p:txBody>
      </p:sp>
      <p:graphicFrame>
        <p:nvGraphicFramePr>
          <p:cNvPr id="8" name="Chart 0"/>
          <p:cNvGraphicFramePr/>
          <p:nvPr/>
        </p:nvGraphicFramePr>
        <p:xfrm>
          <a:off x="640080" y="1874520"/>
          <a:ext cx="3361944" cy="33832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Text 6"/>
          <p:cNvSpPr txBox="1"/>
          <p:nvPr/>
        </p:nvSpPr>
        <p:spPr>
          <a:xfrm>
            <a:off x="4596384" y="153619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Transmission</a:t>
            </a:r>
            <a:endParaRPr lang="en-US" sz="1400" dirty="0"/>
          </a:p>
        </p:txBody>
      </p:sp>
      <p:graphicFrame>
        <p:nvGraphicFramePr>
          <p:cNvPr id="10" name="Chart 1"/>
          <p:cNvGraphicFramePr/>
          <p:nvPr/>
        </p:nvGraphicFramePr>
        <p:xfrm>
          <a:off x="4413504" y="1828800"/>
          <a:ext cx="3361944" cy="26974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 txBox="1"/>
          <p:nvPr/>
        </p:nvSpPr>
        <p:spPr>
          <a:xfrm>
            <a:off x="4596384" y="4572000"/>
            <a:ext cx="29961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3B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Automatic  </a:t>
            </a:r>
            <a:r>
              <a:rPr lang="en-US" sz="1200" dirty="0">
                <a:solidFill>
                  <a:srgbClr val="3B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475,904 · 85.17%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B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 </a:t>
            </a:r>
            <a:r>
              <a:rPr lang="en-US" sz="1200" dirty="0">
                <a:solidFill>
                  <a:srgbClr val="3B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17,544 · 3.14%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3B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 </a:t>
            </a:r>
            <a:r>
              <a:rPr lang="en-US" sz="1200" dirty="0">
                <a:solidFill>
                  <a:srgbClr val="3B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65,351 · 11.69%</a:t>
            </a:r>
            <a:endParaRPr lang="en-US" sz="1200" dirty="0"/>
          </a:p>
        </p:txBody>
      </p:sp>
      <p:sp>
        <p:nvSpPr>
          <p:cNvPr id="12" name="Text 8"/>
          <p:cNvSpPr txBox="1"/>
          <p:nvPr/>
        </p:nvSpPr>
        <p:spPr>
          <a:xfrm>
            <a:off x="8369808" y="1536192"/>
            <a:ext cx="2996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age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8369808" y="2011680"/>
            <a:ext cx="1406652" cy="1481328"/>
          </a:xfrm>
          <a:prstGeom prst="roundRect">
            <a:avLst>
              <a:gd name="adj" fmla="val 7801"/>
            </a:avLst>
          </a:prstGeom>
          <a:solidFill>
            <a:srgbClr val="F2E9D8"/>
          </a:solidFill>
          <a:ln w="12700">
            <a:solidFill>
              <a:srgbClr val="F2E9D8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8461248" y="2286000"/>
            <a:ext cx="12237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60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4.96</a:t>
            </a:r>
            <a:endParaRPr lang="en-US" sz="3200" dirty="0"/>
          </a:p>
        </p:txBody>
      </p:sp>
      <p:sp>
        <p:nvSpPr>
          <p:cNvPr id="15" name="Text 11"/>
          <p:cNvSpPr txBox="1"/>
          <p:nvPr/>
        </p:nvSpPr>
        <p:spPr>
          <a:xfrm>
            <a:off x="8461248" y="2926080"/>
            <a:ext cx="12237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· average age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9959340" y="2011680"/>
            <a:ext cx="1406652" cy="1481328"/>
          </a:xfrm>
          <a:prstGeom prst="roundRect">
            <a:avLst>
              <a:gd name="adj" fmla="val 7801"/>
            </a:avLst>
          </a:prstGeom>
          <a:solidFill>
            <a:srgbClr val="F2E9D8"/>
          </a:solidFill>
          <a:ln w="12700">
            <a:solidFill>
              <a:srgbClr val="F2E9D8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10050780" y="2286000"/>
            <a:ext cx="12237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A60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200" dirty="0"/>
          </a:p>
        </p:txBody>
      </p:sp>
      <p:sp>
        <p:nvSpPr>
          <p:cNvPr id="18" name="Text 14"/>
          <p:cNvSpPr txBox="1"/>
          <p:nvPr/>
        </p:nvSpPr>
        <p:spPr>
          <a:xfrm>
            <a:off x="10050780" y="2926080"/>
            <a:ext cx="12237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· median age</a:t>
            </a:r>
            <a:endParaRPr lang="en-US" sz="1100" dirty="0"/>
          </a:p>
        </p:txBody>
      </p:sp>
      <p:sp>
        <p:nvSpPr>
          <p:cNvPr id="19" name="Shape 15"/>
          <p:cNvSpPr/>
          <p:nvPr/>
        </p:nvSpPr>
        <p:spPr>
          <a:xfrm>
            <a:off x="8369808" y="3675888"/>
            <a:ext cx="1406652" cy="1481328"/>
          </a:xfrm>
          <a:prstGeom prst="roundRect">
            <a:avLst>
              <a:gd name="adj" fmla="val 7801"/>
            </a:avLst>
          </a:prstGeom>
          <a:solidFill>
            <a:srgbClr val="A60321"/>
          </a:solidFill>
          <a:ln w="12700">
            <a:solidFill>
              <a:srgbClr val="A60321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8461248" y="3950208"/>
            <a:ext cx="12237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33.76%</a:t>
            </a:r>
            <a:endParaRPr lang="en-US" sz="2800" dirty="0"/>
          </a:p>
        </p:txBody>
      </p:sp>
      <p:sp>
        <p:nvSpPr>
          <p:cNvPr id="21" name="Text 17"/>
          <p:cNvSpPr txBox="1"/>
          <p:nvPr/>
        </p:nvSpPr>
        <p:spPr>
          <a:xfrm>
            <a:off x="8461248" y="4590288"/>
            <a:ext cx="12237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A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aged 0–2 years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9959340" y="3675888"/>
            <a:ext cx="1406652" cy="1481328"/>
          </a:xfrm>
          <a:prstGeom prst="roundRect">
            <a:avLst>
              <a:gd name="adj" fmla="val 7801"/>
            </a:avLst>
          </a:prstGeom>
          <a:solidFill>
            <a:srgbClr val="A60321"/>
          </a:solidFill>
          <a:ln w="12700">
            <a:solidFill>
              <a:srgbClr val="A60321"/>
            </a:solidFill>
            <a:prstDash val="solid"/>
          </a:ln>
        </p:spPr>
      </p:sp>
      <p:sp>
        <p:nvSpPr>
          <p:cNvPr id="23" name="Text 19"/>
          <p:cNvSpPr txBox="1"/>
          <p:nvPr/>
        </p:nvSpPr>
        <p:spPr>
          <a:xfrm>
            <a:off x="10050780" y="3950208"/>
            <a:ext cx="12237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2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31.74%</a:t>
            </a:r>
            <a:endParaRPr lang="en-US" sz="2800" dirty="0"/>
          </a:p>
        </p:txBody>
      </p:sp>
      <p:sp>
        <p:nvSpPr>
          <p:cNvPr id="24" name="Text 20"/>
          <p:cNvSpPr txBox="1"/>
          <p:nvPr/>
        </p:nvSpPr>
        <p:spPr>
          <a:xfrm>
            <a:off x="10050780" y="4590288"/>
            <a:ext cx="12237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9A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aged 3–5 years</a:t>
            </a:r>
            <a:endParaRPr lang="en-US" sz="1100" dirty="0"/>
          </a:p>
        </p:txBody>
      </p:sp>
      <p:sp>
        <p:nvSpPr>
          <p:cNvPr id="25" name="Shape 21"/>
          <p:cNvSpPr/>
          <p:nvPr/>
        </p:nvSpPr>
        <p:spPr>
          <a:xfrm>
            <a:off x="548640" y="5623560"/>
            <a:ext cx="11091672" cy="731520"/>
          </a:xfrm>
          <a:prstGeom prst="roundRect">
            <a:avLst>
              <a:gd name="adj" fmla="val 15000"/>
            </a:avLst>
          </a:prstGeom>
          <a:solidFill>
            <a:srgbClr val="A60321"/>
          </a:solidFill>
          <a:ln w="12700">
            <a:solidFill>
              <a:srgbClr val="A60321"/>
            </a:solidFill>
            <a:prstDash val="solid"/>
          </a:ln>
        </p:spPr>
      </p:sp>
      <p:sp>
        <p:nvSpPr>
          <p:cNvPr id="26" name="Text 22"/>
          <p:cNvSpPr txBox="1"/>
          <p:nvPr/>
        </p:nvSpPr>
        <p:spPr>
          <a:xfrm>
            <a:off x="822960" y="5623560"/>
            <a:ext cx="10543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Vehicles aged 0–5 years represent 65.50% of transactions.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2E9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·  PRICING &amp; MMR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60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Selling Price vs. MMR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2635758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77240" y="1508760"/>
            <a:ext cx="21785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SELLING PRICE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783080"/>
            <a:ext cx="2178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60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$13,302.85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3367278" y="1371600"/>
            <a:ext cx="2635758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595878" y="1508760"/>
            <a:ext cx="21785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MMR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3595878" y="1783080"/>
            <a:ext cx="2178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A60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$13,457.18</a:t>
            </a:r>
            <a:endParaRPr lang="en-US" sz="2800" dirty="0"/>
          </a:p>
        </p:txBody>
      </p:sp>
      <p:sp>
        <p:nvSpPr>
          <p:cNvPr id="10" name="Shape 8"/>
          <p:cNvSpPr/>
          <p:nvPr/>
        </p:nvSpPr>
        <p:spPr>
          <a:xfrm>
            <a:off x="6185916" y="1371600"/>
            <a:ext cx="2635758" cy="1051560"/>
          </a:xfrm>
          <a:prstGeom prst="roundRect">
            <a:avLst>
              <a:gd name="adj" fmla="val 10435"/>
            </a:avLst>
          </a:prstGeom>
          <a:solidFill>
            <a:srgbClr val="A60321"/>
          </a:solidFill>
          <a:ln w="12700">
            <a:solidFill>
              <a:srgbClr val="A6032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14516" y="1508760"/>
            <a:ext cx="21785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6414516" y="1783080"/>
            <a:ext cx="2178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-$158.02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9004554" y="1371600"/>
            <a:ext cx="2635758" cy="1051560"/>
          </a:xfrm>
          <a:prstGeom prst="roundRect">
            <a:avLst>
              <a:gd name="adj" fmla="val 10435"/>
            </a:avLst>
          </a:prstGeom>
          <a:solidFill>
            <a:srgbClr val="A60321"/>
          </a:solidFill>
          <a:ln w="12700">
            <a:solidFill>
              <a:srgbClr val="A6032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9233154" y="1508760"/>
            <a:ext cx="21785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9A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DIFFERENCE %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9233154" y="1783080"/>
            <a:ext cx="217855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2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-0.67%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548640" y="2651760"/>
            <a:ext cx="5486400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822960" y="277063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status vs. MMR</a:t>
            </a:r>
            <a:endParaRPr lang="en-US" sz="1400" dirty="0"/>
          </a:p>
        </p:txBody>
      </p:sp>
      <p:graphicFrame>
        <p:nvGraphicFramePr>
          <p:cNvPr id="18" name="Chart 0"/>
          <p:cNvGraphicFramePr/>
          <p:nvPr/>
        </p:nvGraphicFramePr>
        <p:xfrm>
          <a:off x="640080" y="3017520"/>
          <a:ext cx="310896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9" name="Shape 16"/>
          <p:cNvSpPr/>
          <p:nvPr/>
        </p:nvSpPr>
        <p:spPr>
          <a:xfrm>
            <a:off x="3886200" y="3300984"/>
            <a:ext cx="182880" cy="182880"/>
          </a:xfrm>
          <a:prstGeom prst="ellipse">
            <a:avLst/>
          </a:prstGeom>
          <a:solidFill>
            <a:srgbClr val="D9A577"/>
          </a:solidFill>
          <a:ln w="12700">
            <a:solidFill>
              <a:srgbClr val="D9A577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160520" y="324612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B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Above MMR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160520" y="3520440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268,674  ·  48.08%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3886200" y="4050792"/>
            <a:ext cx="182880" cy="182880"/>
          </a:xfrm>
          <a:prstGeom prst="ellipse">
            <a:avLst/>
          </a:prstGeom>
          <a:solidFill>
            <a:srgbClr val="8C5C32"/>
          </a:solidFill>
          <a:ln w="12700">
            <a:solidFill>
              <a:srgbClr val="8C5C3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160520" y="399592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B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MMR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4160520" y="4270248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10,847  ·  1.94%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3886200" y="4800600"/>
            <a:ext cx="182880" cy="182880"/>
          </a:xfrm>
          <a:prstGeom prst="ellipse">
            <a:avLst/>
          </a:prstGeom>
          <a:solidFill>
            <a:srgbClr val="A60321"/>
          </a:solidFill>
          <a:ln w="12700">
            <a:solidFill>
              <a:srgbClr val="A60321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160520" y="474573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3B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Below MMR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4160520" y="5020056"/>
            <a:ext cx="1783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279,278  ·  49.98%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6263640" y="2651760"/>
            <a:ext cx="5376672" cy="292608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Text 26"/>
          <p:cNvSpPr txBox="1"/>
          <p:nvPr/>
        </p:nvSpPr>
        <p:spPr>
          <a:xfrm>
            <a:off x="6537960" y="27706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SellingPrice vs MMR correlation</a:t>
            </a:r>
            <a:endParaRPr lang="en-US" sz="1400" dirty="0"/>
          </a:p>
        </p:txBody>
      </p:sp>
      <p:sp>
        <p:nvSpPr>
          <p:cNvPr id="30" name="Text 27"/>
          <p:cNvSpPr txBox="1"/>
          <p:nvPr/>
        </p:nvSpPr>
        <p:spPr>
          <a:xfrm>
            <a:off x="6537960" y="310896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A60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+0.982</a:t>
            </a:r>
            <a:endParaRPr lang="en-US" sz="6400" dirty="0"/>
          </a:p>
        </p:txBody>
      </p:sp>
      <p:sp>
        <p:nvSpPr>
          <p:cNvPr id="31" name="Shape 28"/>
          <p:cNvSpPr/>
          <p:nvPr/>
        </p:nvSpPr>
        <p:spPr>
          <a:xfrm>
            <a:off x="6537960" y="4251960"/>
            <a:ext cx="4828032" cy="128016"/>
          </a:xfrm>
          <a:prstGeom prst="roundRect">
            <a:avLst>
              <a:gd name="adj" fmla="val 50000"/>
            </a:avLst>
          </a:prstGeom>
          <a:solidFill>
            <a:srgbClr val="D9A577"/>
          </a:solidFill>
          <a:ln w="12700">
            <a:solidFill>
              <a:srgbClr val="D9A57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11176236" y="4169664"/>
            <a:ext cx="292608" cy="292608"/>
          </a:xfrm>
          <a:prstGeom prst="ellipse">
            <a:avLst/>
          </a:prstGeom>
          <a:solidFill>
            <a:srgbClr val="A60321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6537960" y="45079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8723376" y="45079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10908792" y="450799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buNone/>
            </a:pPr>
            <a:r>
              <a:rPr lang="en-US" sz="1000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6537960" y="47548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3B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is strongly aligned with final selling price: vehicles with higher MMR values tend to sell at higher prices.</a:t>
            </a:r>
            <a:endParaRPr lang="en-US" sz="1250" dirty="0"/>
          </a:p>
        </p:txBody>
      </p:sp>
      <p:sp>
        <p:nvSpPr>
          <p:cNvPr id="37" name="Shape 34"/>
          <p:cNvSpPr/>
          <p:nvPr/>
        </p:nvSpPr>
        <p:spPr>
          <a:xfrm>
            <a:off x="548640" y="5760720"/>
            <a:ext cx="11091672" cy="640080"/>
          </a:xfrm>
          <a:prstGeom prst="roundRect">
            <a:avLst>
              <a:gd name="adj" fmla="val 17143"/>
            </a:avLst>
          </a:prstGeom>
          <a:solidFill>
            <a:srgbClr val="A60321"/>
          </a:solidFill>
          <a:ln w="12700">
            <a:solidFill>
              <a:srgbClr val="A60321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822960" y="5760720"/>
            <a:ext cx="105430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market is almost evenly split around MMR, with 49.98% of transactions below MMR and 48.08% above MMR.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E9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·  PRICE, MILEAGE &amp; CONDITION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60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Price Bands, Mileage &amp; Vehicle Condition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943600" cy="402336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087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by price band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783080"/>
          <a:ext cx="576072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720840" y="1371600"/>
            <a:ext cx="4919472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949440" y="1481328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 (odometer)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6949440" y="1828800"/>
            <a:ext cx="1395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60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67,552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949440" y="2395728"/>
            <a:ext cx="1395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miles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8482584" y="1828800"/>
            <a:ext cx="1395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60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52,254</a:t>
            </a:r>
            <a:endParaRPr lang="en-US" sz="2600" dirty="0"/>
          </a:p>
        </p:txBody>
      </p:sp>
      <p:sp>
        <p:nvSpPr>
          <p:cNvPr id="12" name="Text 9"/>
          <p:cNvSpPr txBox="1"/>
          <p:nvPr/>
        </p:nvSpPr>
        <p:spPr>
          <a:xfrm>
            <a:off x="8482584" y="2395728"/>
            <a:ext cx="1395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miles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10015728" y="1828800"/>
            <a:ext cx="13959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60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-0.652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10015728" y="2395728"/>
            <a:ext cx="1395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b="1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Corr. with price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720840" y="3154680"/>
            <a:ext cx="4919472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949440" y="3264408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selling price by condition</a:t>
            </a:r>
            <a:endParaRPr lang="en-US" sz="1400" dirty="0"/>
          </a:p>
        </p:txBody>
      </p:sp>
      <p:graphicFrame>
        <p:nvGraphicFramePr>
          <p:cNvPr id="17" name="Chart 1"/>
          <p:cNvGraphicFramePr/>
          <p:nvPr/>
        </p:nvGraphicFramePr>
        <p:xfrm>
          <a:off x="6812280" y="3520440"/>
          <a:ext cx="4736592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Shape 14"/>
          <p:cNvSpPr/>
          <p:nvPr/>
        </p:nvSpPr>
        <p:spPr>
          <a:xfrm>
            <a:off x="548640" y="5623560"/>
            <a:ext cx="5943600" cy="777240"/>
          </a:xfrm>
          <a:prstGeom prst="roundRect">
            <a:avLst>
              <a:gd name="adj" fmla="val 14118"/>
            </a:avLst>
          </a:prstGeom>
          <a:solidFill>
            <a:srgbClr val="A60321"/>
          </a:solidFill>
          <a:ln w="12700">
            <a:solidFill>
              <a:srgbClr val="A60321"/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822960" y="5623560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$10K–$15K is the largest price band at 25.57% of transactions.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720840" y="5623560"/>
            <a:ext cx="4919472" cy="777240"/>
          </a:xfrm>
          <a:prstGeom prst="roundRect">
            <a:avLst>
              <a:gd name="adj" fmla="val 14118"/>
            </a:avLst>
          </a:prstGeom>
          <a:solidFill>
            <a:srgbClr val="8C5C32"/>
          </a:solidFill>
          <a:ln w="12700">
            <a:solidFill>
              <a:srgbClr val="8C5C32"/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995160" y="5623560"/>
            <a:ext cx="437083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High-condition vehicles average $9,053.85 more than low-condition vehicles. Condition is associated with price; this does not show cause.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E9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·  GEOGRAPHIC &amp; TIME ANALYSIS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60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States &amp; Sales Timeline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126480" cy="301752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49047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states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1874520"/>
          <a:ext cx="5669280" cy="9144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2E9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603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2E9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603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2E9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6032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2E9D8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Price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A6032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B2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Florida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B2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82,945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B2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14.84%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B2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$13,542.83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B2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California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9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B2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73,148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9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B2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13.09%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9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B2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$13,844.60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B2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Pennsylvania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B2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53,907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B2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9.65%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B2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$15,576.08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B2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Texas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9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B2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45,913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9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B2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8.22%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9D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B2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$12,963.55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2E9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3B2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Georgia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B2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34,750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B2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6.22%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B241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$12,611.64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48640" y="4572000"/>
            <a:ext cx="6126480" cy="914400"/>
          </a:xfrm>
          <a:prstGeom prst="roundRect">
            <a:avLst>
              <a:gd name="adj" fmla="val 12000"/>
            </a:avLst>
          </a:prstGeom>
          <a:solidFill>
            <a:srgbClr val="A60321"/>
          </a:solidFill>
          <a:ln w="12700">
            <a:solidFill>
              <a:srgbClr val="A60321"/>
            </a:solidFill>
            <a:prstDash val="solid"/>
          </a:ln>
        </p:spPr>
      </p:sp>
      <p:sp>
        <p:nvSpPr>
          <p:cNvPr id="6" name="Text 5"/>
          <p:cNvSpPr txBox="1"/>
          <p:nvPr/>
        </p:nvSpPr>
        <p:spPr>
          <a:xfrm>
            <a:off x="822960" y="4572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2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163,053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3063240" y="4572000"/>
            <a:ext cx="3383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D9A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in February: the highest monthly transaction volume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903720" y="1371600"/>
            <a:ext cx="4736592" cy="27432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7178040" y="1490472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 by year</a:t>
            </a:r>
            <a:endParaRPr lang="en-US" sz="1400" dirty="0"/>
          </a:p>
        </p:txBody>
      </p:sp>
      <p:graphicFrame>
        <p:nvGraphicFramePr>
          <p:cNvPr id="12" name="Chart 0"/>
          <p:cNvGraphicFramePr/>
          <p:nvPr/>
        </p:nvGraphicFramePr>
        <p:xfrm>
          <a:off x="6995160" y="1783080"/>
          <a:ext cx="4553712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Shape 9"/>
          <p:cNvSpPr/>
          <p:nvPr/>
        </p:nvSpPr>
        <p:spPr>
          <a:xfrm>
            <a:off x="6903720" y="4297680"/>
            <a:ext cx="2276856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4" name="Text 10"/>
          <p:cNvSpPr txBox="1"/>
          <p:nvPr/>
        </p:nvSpPr>
        <p:spPr>
          <a:xfrm>
            <a:off x="7086600" y="44074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 SALES VALUE</a:t>
            </a:r>
            <a:endParaRPr lang="en-US" sz="1050" dirty="0"/>
          </a:p>
        </p:txBody>
      </p:sp>
      <p:sp>
        <p:nvSpPr>
          <p:cNvPr id="15" name="Text 11"/>
          <p:cNvSpPr txBox="1"/>
          <p:nvPr/>
        </p:nvSpPr>
        <p:spPr>
          <a:xfrm>
            <a:off x="7086600" y="46451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60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$594.34M</a:t>
            </a:r>
            <a:endParaRPr lang="en-US" sz="2600" dirty="0"/>
          </a:p>
        </p:txBody>
      </p:sp>
      <p:sp>
        <p:nvSpPr>
          <p:cNvPr id="16" name="Text 12"/>
          <p:cNvSpPr txBox="1"/>
          <p:nvPr/>
        </p:nvSpPr>
        <p:spPr>
          <a:xfrm>
            <a:off x="7086600" y="5120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53,727 transactions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9363456" y="4297680"/>
            <a:ext cx="2276856" cy="118872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9546336" y="4407408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2015 SALES VALUE</a:t>
            </a:r>
            <a:endParaRPr lang="en-US" sz="1050" dirty="0"/>
          </a:p>
        </p:txBody>
      </p:sp>
      <p:sp>
        <p:nvSpPr>
          <p:cNvPr id="19" name="Text 15"/>
          <p:cNvSpPr txBox="1"/>
          <p:nvPr/>
        </p:nvSpPr>
        <p:spPr>
          <a:xfrm>
            <a:off x="9546336" y="4645152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60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$6.839B</a:t>
            </a:r>
            <a:endParaRPr lang="en-US" sz="2600" dirty="0"/>
          </a:p>
        </p:txBody>
      </p:sp>
      <p:sp>
        <p:nvSpPr>
          <p:cNvPr id="20" name="Text 16"/>
          <p:cNvSpPr txBox="1"/>
          <p:nvPr/>
        </p:nvSpPr>
        <p:spPr>
          <a:xfrm>
            <a:off x="9546336" y="5120640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505,072 transactions</a:t>
            </a:r>
            <a:endParaRPr lang="en-US" sz="1100" dirty="0"/>
          </a:p>
        </p:txBody>
      </p:sp>
      <p:sp>
        <p:nvSpPr>
          <p:cNvPr id="21" name="Shape 17"/>
          <p:cNvSpPr/>
          <p:nvPr/>
        </p:nvSpPr>
        <p:spPr>
          <a:xfrm>
            <a:off x="548640" y="5715000"/>
            <a:ext cx="11091672" cy="685800"/>
          </a:xfrm>
          <a:prstGeom prst="roundRect">
            <a:avLst>
              <a:gd name="adj" fmla="val 16000"/>
            </a:avLst>
          </a:prstGeom>
          <a:solidFill>
            <a:srgbClr val="A60321"/>
          </a:solidFill>
          <a:ln w="12700">
            <a:solidFill>
              <a:srgbClr val="A60321"/>
            </a:solidFill>
            <a:prstDash val="solid"/>
          </a:ln>
        </p:spPr>
      </p:sp>
      <p:sp>
        <p:nvSpPr>
          <p:cNvPr id="22" name="Text 18"/>
          <p:cNvSpPr txBox="1"/>
          <p:nvPr/>
        </p:nvSpPr>
        <p:spPr>
          <a:xfrm>
            <a:off x="822960" y="5715000"/>
            <a:ext cx="1054303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90.39% of transactions occurred in 2015.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E9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 ·  SELLERS &amp; CORRELATIONS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60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Top Sellers &amp; Drivers of Selling Price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585216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22960" y="15087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sellers by transactions</a:t>
            </a:r>
            <a:endParaRPr lang="en-US" sz="14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" y="1783080"/>
          <a:ext cx="5669280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629400" y="1371600"/>
            <a:ext cx="5010912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6903720" y="1508760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with SellingPrice</a:t>
            </a:r>
            <a:endParaRPr lang="en-US" sz="1400" dirty="0"/>
          </a:p>
        </p:txBody>
      </p:sp>
      <p:graphicFrame>
        <p:nvGraphicFramePr>
          <p:cNvPr id="9" name="Chart 1"/>
          <p:cNvGraphicFramePr/>
          <p:nvPr/>
        </p:nvGraphicFramePr>
        <p:xfrm>
          <a:off x="6720840" y="1783080"/>
          <a:ext cx="4828032" cy="3474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Shape 6"/>
          <p:cNvSpPr/>
          <p:nvPr/>
        </p:nvSpPr>
        <p:spPr>
          <a:xfrm>
            <a:off x="548640" y="5577840"/>
            <a:ext cx="7315200" cy="822960"/>
          </a:xfrm>
          <a:prstGeom prst="roundRect">
            <a:avLst>
              <a:gd name="adj" fmla="val 13333"/>
            </a:avLst>
          </a:prstGeom>
          <a:solidFill>
            <a:srgbClr val="A60321"/>
          </a:solidFill>
          <a:ln w="12700">
            <a:solidFill>
              <a:srgbClr val="A60321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822960" y="5577840"/>
            <a:ext cx="6766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shows the strongest relationship with SellingPrice, while mileage and vehicle age show negative relationships.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8092440" y="5577840"/>
            <a:ext cx="3547872" cy="822960"/>
          </a:xfrm>
          <a:prstGeom prst="roundRect">
            <a:avLst>
              <a:gd name="adj" fmla="val 13333"/>
            </a:avLst>
          </a:prstGeom>
          <a:solidFill>
            <a:srgbClr val="8C5C32"/>
          </a:solidFill>
          <a:ln w="12700">
            <a:solidFill>
              <a:srgbClr val="8C5C32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8366760" y="5577840"/>
            <a:ext cx="299923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does not prove causation.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E9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 ·  KEY BUSINESS INSIGHTS &amp; RECOMMENDATIONS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60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Data Tells Us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6949440" cy="502920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01600" dist="25400" dir="54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868680" y="1508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A60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868680" y="2048256"/>
            <a:ext cx="329184" cy="329184"/>
          </a:xfrm>
          <a:prstGeom prst="ellipse">
            <a:avLst/>
          </a:prstGeom>
          <a:solidFill>
            <a:srgbClr val="A60321"/>
          </a:solidFill>
          <a:ln w="12700">
            <a:solidFill>
              <a:srgbClr val="A60321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20482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201168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MMR is strongly aligned with final selling price</a:t>
            </a:r>
            <a:r>
              <a:rPr lang="en-US" sz="1350" dirty="0">
                <a:solidFill>
                  <a:srgbClr val="3B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correlation +0.982.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68680" y="2532888"/>
            <a:ext cx="329184" cy="329184"/>
          </a:xfrm>
          <a:prstGeom prst="ellipse">
            <a:avLst/>
          </a:prstGeom>
          <a:solidFill>
            <a:srgbClr val="A60321"/>
          </a:solidFill>
          <a:ln w="12700">
            <a:solidFill>
              <a:srgbClr val="A60321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68680" y="25328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1371600" y="249631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49.98% of sales are below MMR</a:t>
            </a:r>
            <a:r>
              <a:rPr lang="en-US" sz="1350" dirty="0">
                <a:solidFill>
                  <a:srgbClr val="3B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compared with 48.08% above MMR.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868680" y="3017520"/>
            <a:ext cx="329184" cy="329184"/>
          </a:xfrm>
          <a:prstGeom prst="ellipse">
            <a:avLst/>
          </a:prstGeom>
          <a:solidFill>
            <a:srgbClr val="A60321"/>
          </a:solidFill>
          <a:ln w="12700">
            <a:solidFill>
              <a:srgbClr val="A60321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68680" y="3017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1371600" y="2980944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Ford represents 16.74% of transactions</a:t>
            </a:r>
            <a:r>
              <a:rPr lang="en-US" sz="1350" dirty="0">
                <a:solidFill>
                  <a:srgbClr val="3B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the largest make share.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68680" y="3502152"/>
            <a:ext cx="329184" cy="329184"/>
          </a:xfrm>
          <a:prstGeom prst="ellipse">
            <a:avLst/>
          </a:prstGeom>
          <a:solidFill>
            <a:srgbClr val="A60321"/>
          </a:solidFill>
          <a:ln w="12700">
            <a:solidFill>
              <a:srgbClr val="A60321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68680" y="35021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65576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65.50% of vehicles are 0–5 years old.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68680" y="3986784"/>
            <a:ext cx="329184" cy="329184"/>
          </a:xfrm>
          <a:prstGeom prst="ellipse">
            <a:avLst/>
          </a:prstGeom>
          <a:solidFill>
            <a:srgbClr val="A60321"/>
          </a:solidFill>
          <a:ln w="12700">
            <a:solidFill>
              <a:srgbClr val="A60321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68680" y="398678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371600" y="3950208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Mileage is negatively associated with price</a:t>
            </a:r>
            <a:r>
              <a:rPr lang="en-US" sz="1350" dirty="0">
                <a:solidFill>
                  <a:srgbClr val="3B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correlation -0.652.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868680" y="4471416"/>
            <a:ext cx="329184" cy="329184"/>
          </a:xfrm>
          <a:prstGeom prst="ellipse">
            <a:avLst/>
          </a:prstGeom>
          <a:solidFill>
            <a:srgbClr val="A60321"/>
          </a:solidFill>
          <a:ln w="12700">
            <a:solidFill>
              <a:srgbClr val="A6032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447141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371600" y="4434840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High-condition vehicles average $18,751.09</a:t>
            </a:r>
            <a:r>
              <a:rPr lang="en-US" sz="1350" dirty="0">
                <a:solidFill>
                  <a:srgbClr val="3B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versus $9,697.24 for low-condition vehicles.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868680" y="4956048"/>
            <a:ext cx="329184" cy="329184"/>
          </a:xfrm>
          <a:prstGeom prst="ellipse">
            <a:avLst/>
          </a:prstGeom>
          <a:solidFill>
            <a:srgbClr val="A60321"/>
          </a:solidFill>
          <a:ln w="12700">
            <a:solidFill>
              <a:srgbClr val="A6032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68680" y="49560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1371600" y="4919472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Florida leads transaction volume with 14.84%.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868680" y="5440680"/>
            <a:ext cx="329184" cy="329184"/>
          </a:xfrm>
          <a:prstGeom prst="ellipse">
            <a:avLst/>
          </a:prstGeom>
          <a:solidFill>
            <a:srgbClr val="A60321"/>
          </a:solidFill>
          <a:ln w="12700">
            <a:solidFill>
              <a:srgbClr val="A6032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8680" y="54406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371600" y="5404104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$10K–$15K band contains 25.57% of transactions.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68680" y="5925312"/>
            <a:ext cx="329184" cy="329184"/>
          </a:xfrm>
          <a:prstGeom prst="ellipse">
            <a:avLst/>
          </a:prstGeom>
          <a:solidFill>
            <a:srgbClr val="A60321"/>
          </a:solidFill>
          <a:ln w="12700">
            <a:solidFill>
              <a:srgbClr val="A6032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868680" y="59253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371600" y="5888736"/>
            <a:ext cx="5852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3B24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90.39% of transactions occurred in 2015.</a:t>
            </a:r>
            <a:endParaRPr lang="en-US" sz="1350" dirty="0"/>
          </a:p>
        </p:txBody>
      </p:sp>
      <p:sp>
        <p:nvSpPr>
          <p:cNvPr id="33" name="Shape 31"/>
          <p:cNvSpPr/>
          <p:nvPr/>
        </p:nvSpPr>
        <p:spPr>
          <a:xfrm>
            <a:off x="7726680" y="1371600"/>
            <a:ext cx="3913632" cy="5029200"/>
          </a:xfrm>
          <a:prstGeom prst="roundRect">
            <a:avLst>
              <a:gd name="adj" fmla="val 2804"/>
            </a:avLst>
          </a:prstGeom>
          <a:solidFill>
            <a:srgbClr val="A60321"/>
          </a:solidFill>
          <a:ln w="12700">
            <a:solidFill>
              <a:srgbClr val="A6032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04672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F2E9D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Recommendations</a:t>
            </a:r>
            <a:endParaRPr lang="en-US" sz="2200" dirty="0"/>
          </a:p>
        </p:txBody>
      </p:sp>
      <p:sp>
        <p:nvSpPr>
          <p:cNvPr id="35" name="Shape 33"/>
          <p:cNvSpPr/>
          <p:nvPr/>
        </p:nvSpPr>
        <p:spPr>
          <a:xfrm>
            <a:off x="8046720" y="2318004"/>
            <a:ext cx="347472" cy="347472"/>
          </a:xfrm>
          <a:prstGeom prst="ellipse">
            <a:avLst/>
          </a:prstGeom>
          <a:solidFill>
            <a:srgbClr val="D9A577"/>
          </a:solidFill>
          <a:ln w="12700">
            <a:solidFill>
              <a:srgbClr val="D9A577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046720" y="231800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60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8595360" y="2103120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MMR as a core pricing benchmark.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8046720" y="3177540"/>
            <a:ext cx="347472" cy="347472"/>
          </a:xfrm>
          <a:prstGeom prst="ellipse">
            <a:avLst/>
          </a:prstGeom>
          <a:solidFill>
            <a:srgbClr val="D9A577"/>
          </a:solidFill>
          <a:ln w="12700">
            <a:solidFill>
              <a:srgbClr val="D9A577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046720" y="31775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60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8595360" y="2962656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pricing by vehicle age and mileage.</a:t>
            </a:r>
            <a:endParaRPr lang="en-US" sz="1350" dirty="0"/>
          </a:p>
        </p:txBody>
      </p:sp>
      <p:sp>
        <p:nvSpPr>
          <p:cNvPr id="41" name="Shape 39"/>
          <p:cNvSpPr/>
          <p:nvPr/>
        </p:nvSpPr>
        <p:spPr>
          <a:xfrm>
            <a:off x="8046720" y="4037076"/>
            <a:ext cx="347472" cy="347472"/>
          </a:xfrm>
          <a:prstGeom prst="ellipse">
            <a:avLst/>
          </a:prstGeom>
          <a:solidFill>
            <a:srgbClr val="D9A577"/>
          </a:solidFill>
          <a:ln w="12700">
            <a:solidFill>
              <a:srgbClr val="D9A577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046720" y="40370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60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43" name="Text 41"/>
          <p:cNvSpPr txBox="1"/>
          <p:nvPr/>
        </p:nvSpPr>
        <p:spPr>
          <a:xfrm>
            <a:off x="8595360" y="3822192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patterns behind below-MMR transactions.</a:t>
            </a:r>
            <a:endParaRPr lang="en-US" sz="1350" dirty="0"/>
          </a:p>
        </p:txBody>
      </p:sp>
      <p:sp>
        <p:nvSpPr>
          <p:cNvPr id="44" name="Shape 42"/>
          <p:cNvSpPr/>
          <p:nvPr/>
        </p:nvSpPr>
        <p:spPr>
          <a:xfrm>
            <a:off x="8046720" y="4896612"/>
            <a:ext cx="347472" cy="347472"/>
          </a:xfrm>
          <a:prstGeom prst="ellipse">
            <a:avLst/>
          </a:prstGeom>
          <a:solidFill>
            <a:srgbClr val="D9A577"/>
          </a:solidFill>
          <a:ln w="12700">
            <a:solidFill>
              <a:srgbClr val="D9A577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046720" y="48966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60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8595360" y="4681728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inventory analysis on high-volume makes and body types.</a:t>
            </a:r>
            <a:endParaRPr lang="en-US" sz="1350" dirty="0"/>
          </a:p>
        </p:txBody>
      </p:sp>
      <p:sp>
        <p:nvSpPr>
          <p:cNvPr id="47" name="Shape 45"/>
          <p:cNvSpPr/>
          <p:nvPr/>
        </p:nvSpPr>
        <p:spPr>
          <a:xfrm>
            <a:off x="8046720" y="5756148"/>
            <a:ext cx="347472" cy="347472"/>
          </a:xfrm>
          <a:prstGeom prst="ellipse">
            <a:avLst/>
          </a:prstGeom>
          <a:solidFill>
            <a:srgbClr val="D9A577"/>
          </a:solidFill>
          <a:ln w="12700">
            <a:solidFill>
              <a:srgbClr val="D9A577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046720" y="57561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A603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49" name="Text 47"/>
          <p:cNvSpPr txBox="1"/>
          <p:nvPr/>
        </p:nvSpPr>
        <p:spPr>
          <a:xfrm>
            <a:off x="8595360" y="5541264"/>
            <a:ext cx="2788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geographic segmentation for market-specific pricing and inventory decisions.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E9D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7315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8C5C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 ·  DASHBOARD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A60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Interactive Power BI Dashboard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1525172" cy="548640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9050">
            <a:solidFill>
              <a:srgbClr val="8C5C32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777240" y="1572768"/>
            <a:ext cx="384048" cy="384048"/>
          </a:xfrm>
          <a:prstGeom prst="ellipse">
            <a:avLst/>
          </a:prstGeom>
          <a:solidFill>
            <a:srgbClr val="A60321"/>
          </a:solidFill>
          <a:ln w="12700">
            <a:solidFill>
              <a:srgbClr val="A6032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77240" y="1572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572768"/>
            <a:ext cx="2630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A6032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Executive Overview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2423160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5053584" y="1572768"/>
            <a:ext cx="2630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8827008" y="1572768"/>
            <a:ext cx="2630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8324088" y="2423160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1280160" y="4041648"/>
            <a:ext cx="2630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77240" y="4892040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053584" y="4041648"/>
            <a:ext cx="2630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4550664" y="4892040"/>
            <a:ext cx="30876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8369808" y="4434840"/>
            <a:ext cx="299618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2E9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 enabling filtering, cross-filtering, drill-down, and detailed analysis across vehicle, pricing, geographic, time, and seller dimensions.</a:t>
            </a:r>
            <a:endParaRPr lang="en-US" sz="1400" dirty="0"/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id="{D2952A89-533C-49E3-8795-AB2609812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259" y="2024743"/>
            <a:ext cx="11289594" cy="467463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727</Words>
  <Application>Microsoft Office PowerPoint</Application>
  <PresentationFormat>Widescreen</PresentationFormat>
  <Paragraphs>194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Sales Data Analytics</dc:title>
  <dc:subject>PptxGenJS Presentation</dc:subject>
  <dc:creator>PptxGenJS</dc:creator>
  <cp:lastModifiedBy>philip bassem</cp:lastModifiedBy>
  <cp:revision>2</cp:revision>
  <dcterms:created xsi:type="dcterms:W3CDTF">2026-09-30T12:50:46Z</dcterms:created>
  <dcterms:modified xsi:type="dcterms:W3CDTF">2026-09-30T13:00:55Z</dcterms:modified>
</cp:coreProperties>
</file>